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 Italics" charset="1" panose="02020703060505090304"/>
      <p:regular r:id="rId12"/>
    </p:embeddedFont>
    <p:embeddedFont>
      <p:font typeface="Times New Roman" charset="1" panose="02020603050405020304"/>
      <p:regular r:id="rId13"/>
    </p:embeddedFont>
    <p:embeddedFont>
      <p:font typeface="Arial" charset="1" panose="020B06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Times New Roman Bold" charset="1" panose="02020803070505020304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notesSlide" Target="notesSlides/notesSlide3.xml"/><Relationship Id="rId25" Type="http://schemas.openxmlformats.org/officeDocument/2006/relationships/notesSlide" Target="notesSlides/notesSlide4.xml"/><Relationship Id="rId26" Type="http://schemas.openxmlformats.org/officeDocument/2006/relationships/notesSlide" Target="notesSlides/notesSlide5.xml"/><Relationship Id="rId27" Type="http://schemas.openxmlformats.org/officeDocument/2006/relationships/font" Target="fonts/font2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3.jpe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jpe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3.jpe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jpeg"/><Relationship Id="rId8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hyperlink" Target="https://sih-thermal-intel.vercel.app" TargetMode="External"/><Relationship Id="rId6" Type="http://schemas.openxmlformats.org/officeDocument/2006/relationships/hyperlink" Target="https://firms.modaps.eosdis.nasa.gov" TargetMode="External"/><Relationship Id="rId7" Type="http://schemas.openxmlformats.org/officeDocument/2006/relationships/hyperlink" Target="https://firms.modaps.eosdis.nasa.gov" TargetMode="External"/><Relationship Id="rId8" Type="http://schemas.openxmlformats.org/officeDocument/2006/relationships/hyperlink" Target="https://firms.modaps.eosdis.nasa.gov" TargetMode="External"/><Relationship Id="rId9" Type="http://schemas.openxmlformats.org/officeDocument/2006/relationships/hyperlink" Target="https://firms.modaps.eosdis.nasa.gov" TargetMode="External"/><Relationship Id="rId10" Type="http://schemas.openxmlformats.org/officeDocument/2006/relationships/hyperlink" Target="https://firms.modaps.eosdis.nasa.gov" TargetMode="External"/><Relationship Id="rId11" Type="http://schemas.openxmlformats.org/officeDocument/2006/relationships/hyperlink" Target="https://firms.modaps.eosdis.nasa.gov" TargetMode="External"/><Relationship Id="rId12" Type="http://schemas.openxmlformats.org/officeDocument/2006/relationships/hyperlink" Target="https://firms.modaps.eosdis.nasa.gov" TargetMode="External"/><Relationship Id="rId13" Type="http://schemas.openxmlformats.org/officeDocument/2006/relationships/hyperlink" Target="https://firms.modaps.eosdis.nasa.gov" TargetMode="External"/><Relationship Id="rId14" Type="http://schemas.openxmlformats.org/officeDocument/2006/relationships/hyperlink" Target="https://firms.modaps.eosdis.nasa.gov" TargetMode="External"/><Relationship Id="rId15" Type="http://schemas.openxmlformats.org/officeDocument/2006/relationships/hyperlink" Target="https://firms.modaps.eosdis.nasa.gov" TargetMode="External"/><Relationship Id="rId16" Type="http://schemas.openxmlformats.org/officeDocument/2006/relationships/hyperlink" Target="https://firms.modaps.eosdis.nasa.gov" TargetMode="External"/><Relationship Id="rId17" Type="http://schemas.openxmlformats.org/officeDocument/2006/relationships/hyperlink" Target="https://firms.modaps.eosdis.nasa.gov" TargetMode="External"/><Relationship Id="rId18" Type="http://schemas.openxmlformats.org/officeDocument/2006/relationships/hyperlink" Target="https://firms.modaps.eosdis.nasa.gov" TargetMode="External"/><Relationship Id="rId19" Type="http://schemas.openxmlformats.org/officeDocument/2006/relationships/hyperlink" Target="https://firms.modaps.eosdis.nasa.gov" TargetMode="External"/><Relationship Id="rId20" Type="http://schemas.openxmlformats.org/officeDocument/2006/relationships/hyperlink" Target="https://firms.modaps.eosdis.nasa.gov" TargetMode="External"/><Relationship Id="rId21" Type="http://schemas.openxmlformats.org/officeDocument/2006/relationships/hyperlink" Target="https://firms.modaps.eosdis.nasa.gov" TargetMode="External"/><Relationship Id="rId22" Type="http://schemas.openxmlformats.org/officeDocument/2006/relationships/hyperlink" Target="https://firms.modaps.eosdis.nasa.gov" TargetMode="External"/><Relationship Id="rId23" Type="http://schemas.openxmlformats.org/officeDocument/2006/relationships/hyperlink" Target="https://firms.modaps.eosdis.nasa.gov" TargetMode="External"/><Relationship Id="rId24" Type="http://schemas.openxmlformats.org/officeDocument/2006/relationships/hyperlink" Target="https://firms.modaps.eosdis.nasa.gov" TargetMode="External"/><Relationship Id="rId25" Type="http://schemas.openxmlformats.org/officeDocument/2006/relationships/image" Target="../media/image3.jpeg"/><Relationship Id="rId26" Type="http://schemas.openxmlformats.org/officeDocument/2006/relationships/hyperlink" Target="https://youtube.com/playlist?list=PLZEVJ_CP2S9I&amp;si=SveV-co1Jjo9PfHF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8991" y="159940"/>
            <a:ext cx="13948998" cy="10461748"/>
          </a:xfrm>
          <a:custGeom>
            <a:avLst/>
            <a:gdLst/>
            <a:ahLst/>
            <a:cxnLst/>
            <a:rect r="r" b="b" t="t" l="l"/>
            <a:pathLst>
              <a:path h="10461748" w="13948998">
                <a:moveTo>
                  <a:pt x="0" y="0"/>
                </a:moveTo>
                <a:lnTo>
                  <a:pt x="13948998" y="0"/>
                </a:lnTo>
                <a:lnTo>
                  <a:pt x="13948998" y="10461749"/>
                </a:lnTo>
                <a:lnTo>
                  <a:pt x="0" y="1046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690907" y="615609"/>
            <a:ext cx="3115276" cy="1329804"/>
            <a:chOff x="0" y="0"/>
            <a:chExt cx="2722880" cy="1162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15816271" y="615609"/>
            <a:ext cx="1780822" cy="1562288"/>
            <a:chOff x="0" y="0"/>
            <a:chExt cx="1556512" cy="1365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6508991" y="1979299"/>
            <a:ext cx="3843036" cy="85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2"/>
              </a:lnSpc>
            </a:pPr>
            <a:r>
              <a:rPr lang="en-US" b="true" sz="487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TITLE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73513" y="692096"/>
            <a:ext cx="7466052" cy="107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4"/>
              </a:lnSpc>
            </a:pP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TEKATHON-5.0-</a:t>
            </a:r>
            <a:r>
              <a:rPr lang="en-US" sz="6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897" y="3681374"/>
            <a:ext cx="18197955" cy="429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ProblemStatementID–26162</a:t>
            </a:r>
          </a:p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ProblemStatementTitle-AI-Based Detection and Classification of Industrial Fires</a:t>
            </a:r>
          </a:p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Theme- Disaster Management</a:t>
            </a:r>
          </a:p>
          <a:p>
            <a:pPr algn="l">
              <a:lnSpc>
                <a:spcPts val="8783"/>
              </a:lnSpc>
            </a:pPr>
            <a:r>
              <a:rPr sz="3661">
                <a:latin typeface="Arial"/>
              </a:rPr>
              <a:t>• </a:t>
            </a:r>
            <a:r>
              <a:rPr b="1" i="1" sz="3661">
                <a:latin typeface="Arial"/>
              </a:rPr>
              <a:t>PS Category- Software</a:t>
            </a:r>
          </a:p>
          <a:p>
            <a:r>
              <a:rPr sz="3661">
                <a:latin typeface="Arial"/>
              </a:rPr>
              <a:t>• </a:t>
            </a:r>
            <a:r>
              <a:rPr b="1" i="1" sz="3661">
                <a:latin typeface="Arial"/>
              </a:rPr>
              <a:t>TeamName- OOPS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39210" y="56265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  <p:txBody>
            <a:bodyPr/>
            <a:p/>
          </p:txBody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FireSense— Satellite-to-Ground Incident &amp; Disaster Response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585216"/>
                  </a:lnTo>
                  <a:cubicBezTo>
                    <a:pt x="11430000" y="665988"/>
                    <a:pt x="11364468" y="731520"/>
                    <a:pt x="1128369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430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→ Classify → Alert → Respond → Track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🔭 Detect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Classify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🚨 Alert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🚒 Respond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Track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58300" y="3634740"/>
            <a:ext cx="2720340" cy="2125980"/>
            <a:chOff x="0" y="0"/>
            <a:chExt cx="3627120" cy="2834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68028" y="3526155"/>
            <a:ext cx="2500884" cy="480060"/>
            <a:chOff x="0" y="0"/>
            <a:chExt cx="3334512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NTRO INTELLIGENCE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92356" y="4526280"/>
            <a:ext cx="178308" cy="301752"/>
            <a:chOff x="0" y="0"/>
            <a:chExt cx="237744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184380" y="3634740"/>
            <a:ext cx="2720340" cy="2125980"/>
            <a:chOff x="0" y="0"/>
            <a:chExt cx="362712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6B35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94108" y="3700000"/>
            <a:ext cx="2500884" cy="480060"/>
            <a:chOff x="0" y="0"/>
            <a:chExt cx="3334512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36576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GOVERNMENT COMMAND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18436" y="4526280"/>
            <a:ext cx="178308" cy="301752"/>
            <a:chOff x="0" y="0"/>
            <a:chExt cx="237744" cy="402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110460" y="3634740"/>
            <a:ext cx="2720340" cy="2125980"/>
            <a:chOff x="0" y="0"/>
            <a:chExt cx="3627120" cy="2834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B627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219045" y="3615690"/>
            <a:ext cx="2500884" cy="390525"/>
            <a:chOff x="0" y="0"/>
            <a:chExt cx="3334512" cy="520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34512" cy="520700"/>
            </a:xfrm>
            <a:custGeom>
              <a:avLst/>
              <a:gdLst/>
              <a:ahLst/>
              <a:cxnLst/>
              <a:rect r="r" b="b" t="t" l="l"/>
              <a:pathLst>
                <a:path h="52070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520700"/>
                  </a:lnTo>
                  <a:lnTo>
                    <a:pt x="0" y="520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16" r="0" b="-86243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334512" cy="54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u="sng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58300" y="5897880"/>
            <a:ext cx="8572500" cy="480060"/>
            <a:chOff x="0" y="0"/>
            <a:chExt cx="114300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430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5A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Real-Time Tri-Tier Sync: Satellite Intelligence ⇄ Command Dispatch ⇄ Citizen Action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493776"/>
                  </a:lnTo>
                  <a:cubicBezTo>
                    <a:pt x="11430000" y="574548"/>
                    <a:pt x="11364468" y="640080"/>
                    <a:pt x="11283696" y="640080"/>
                  </a:cubicBezTo>
                  <a:lnTo>
                    <a:pt x="146304" y="640080"/>
                  </a:lnTo>
                  <a:cubicBezTo>
                    <a:pt x="65532" y="640080"/>
                    <a:pt x="0" y="574548"/>
                    <a:pt x="0" y="49377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4300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Demo Scenarios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3771" y="7128510"/>
            <a:ext cx="2101566" cy="1221429"/>
            <a:chOff x="0" y="0"/>
            <a:chExt cx="2718308" cy="1579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9224284" y="7194883"/>
            <a:ext cx="1940541" cy="577876"/>
            <a:chOff x="0" y="0"/>
            <a:chExt cx="2510028" cy="7474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Malkangiri, Odisha: WILDFIRE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4284" y="7703878"/>
            <a:ext cx="1940541" cy="599391"/>
            <a:chOff x="0" y="0"/>
            <a:chExt cx="2510028" cy="77529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10028" cy="775293"/>
            </a:xfrm>
            <a:custGeom>
              <a:avLst/>
              <a:gdLst/>
              <a:ahLst/>
              <a:cxnLst/>
              <a:rect r="r" b="b" t="t" l="l"/>
              <a:pathLst>
                <a:path h="775293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75293"/>
                  </a:lnTo>
                  <a:lnTo>
                    <a:pt x="0" y="775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6" r="0" b="-10260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510028" cy="813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moving NE from forest zone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395365" y="7128510"/>
            <a:ext cx="2101566" cy="1221429"/>
            <a:chOff x="0" y="0"/>
            <a:chExt cx="2718308" cy="15798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475877" y="7194883"/>
            <a:ext cx="1940541" cy="577876"/>
            <a:chOff x="0" y="0"/>
            <a:chExt cx="2510028" cy="7474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Angul, Odisha: INDUSTRIAL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475877" y="7703878"/>
            <a:ext cx="1940541" cy="632895"/>
            <a:chOff x="0" y="0"/>
            <a:chExt cx="2510028" cy="81863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10028" cy="818630"/>
            </a:xfrm>
            <a:custGeom>
              <a:avLst/>
              <a:gdLst/>
              <a:ahLst/>
              <a:cxnLst/>
              <a:rect r="r" b="b" t="t" l="l"/>
              <a:pathLst>
                <a:path h="81863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818630"/>
                  </a:lnTo>
                  <a:lnTo>
                    <a:pt x="0" y="818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4" r="0" b="-4423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10028" cy="85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 </a:t>
              </a:r>
            </a:p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action needed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646958" y="7128510"/>
            <a:ext cx="2101566" cy="1221429"/>
            <a:chOff x="0" y="0"/>
            <a:chExt cx="2718308" cy="1579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727470" y="7194883"/>
            <a:ext cx="1940541" cy="577876"/>
            <a:chOff x="0" y="0"/>
            <a:chExt cx="2510028" cy="7474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Ropar, Punjab: CROP SMOKE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27470" y="7703878"/>
            <a:ext cx="1940541" cy="565549"/>
            <a:chOff x="0" y="0"/>
            <a:chExt cx="2510028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  <p:txBody>
            <a:bodyPr/>
            <a:p/>
          </p:txBody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5100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CROP SMOKE — CAQM alert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898551" y="7128510"/>
            <a:ext cx="2101566" cy="1221429"/>
            <a:chOff x="0" y="0"/>
            <a:chExt cx="2718308" cy="1579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6" id="96"/>
          <p:cNvGrpSpPr/>
          <p:nvPr/>
        </p:nvGrpSpPr>
        <p:grpSpPr>
          <a:xfrm rot="0">
            <a:off x="15979063" y="7194883"/>
            <a:ext cx="1940541" cy="577876"/>
            <a:chOff x="0" y="0"/>
            <a:chExt cx="2510028" cy="7474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Faridabad, Haryana: ILLEGAL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979063" y="7703878"/>
            <a:ext cx="1940541" cy="565549"/>
            <a:chOff x="0" y="0"/>
            <a:chExt cx="2510028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51002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status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91440" y="1927860"/>
            <a:ext cx="8366760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26" indent="-160163" lvl="1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>
                <a:solidFill>
                  <a:srgbClr val="0F172A"/>
                </a:solidFill>
                <a:latin typeface="Arial"/>
              </a:rPr>
              <a:t>• </a:t>
            </a:r>
            <a:r>
              <a:rPr b="1" sz="1200">
                <a:solidFill>
                  <a:srgbClr val="0F172A"/>
                </a:solidFill>
                <a:latin typeface="Arial"/>
              </a:rPr>
              <a:t>Automated Thermal Ingestion: </a:t>
            </a:r>
            <a:r>
              <a:rPr sz="1200">
                <a:solidFill>
                  <a:srgbClr val="334155"/>
                </a:solidFill>
                <a:latin typeface="Arial"/>
              </a:rPr>
              <a:t>Ingests NASA FIRMS (MODIS/VIIRS) hotspots and classifies them into 7 classes — Wildfire, Gas Flare, Power Plant, Mining, Crop Burn, Clandestine.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  <a:latin typeface="Arial"/>
              </a:rPr>
              <a:t>• </a:t>
            </a:r>
            <a:r>
              <a:rPr b="1" sz="1200">
                <a:solidFill>
                  <a:srgbClr val="0F172A"/>
                </a:solidFill>
                <a:latin typeface="Arial"/>
              </a:rPr>
              <a:t>Confidence &amp; Threat Scoring: </a:t>
            </a:r>
            <a:r>
              <a:rPr sz="1200">
                <a:solidFill>
                  <a:srgbClr val="334155"/>
                </a:solidFill>
                <a:latin typeface="Arial"/>
              </a:rPr>
              <a:t>Calculates real-time AI Confidence (e.g., 91–97%) and Danger Severity based on peak temperature, spatial area (km²), and temporal baseline matching.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  <a:latin typeface="Arial"/>
              </a:rPr>
              <a:t>• </a:t>
            </a:r>
            <a:r>
              <a:rPr b="1" sz="1200">
                <a:solidFill>
                  <a:srgbClr val="0F172A"/>
                </a:solidFill>
                <a:latin typeface="Arial"/>
              </a:rPr>
              <a:t>Tri-Tier Coordination: </a:t>
            </a:r>
            <a:r>
              <a:rPr sz="1200">
                <a:solidFill>
                  <a:srgbClr val="334155"/>
                </a:solidFill>
                <a:latin typeface="Arial"/>
              </a:rPr>
              <a:t>Connects surveillance analysts, government incident commanders, and affected citizens within a single unified pipeline.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  <a:latin typeface="Arial"/>
              </a:rPr>
              <a:t>• </a:t>
            </a:r>
            <a:r>
              <a:rPr b="1" sz="1200">
                <a:solidFill>
                  <a:srgbClr val="0F172A"/>
                </a:solidFill>
                <a:latin typeface="Arial"/>
              </a:rPr>
              <a:t>End-to-End Action: </a:t>
            </a:r>
            <a:r>
              <a:rPr sz="1200">
                <a:solidFill>
                  <a:srgbClr val="334155"/>
                </a:solidFill>
                <a:latin typeface="Arial"/>
              </a:rPr>
              <a:t>Moves beyond passive detection by triggering automated emergency resource allocation, dynamic safe evacuation paths, and instant public SOS alerts.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24298" y="4567999"/>
            <a:ext cx="7930991" cy="520065"/>
            <a:chOff x="0" y="0"/>
            <a:chExt cx="1115568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24298" y="4567999"/>
            <a:ext cx="7930991" cy="520065"/>
            <a:chOff x="0" y="0"/>
            <a:chExt cx="1115568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  <p:txBody>
            <a:bodyPr/>
            <a:p/>
          </p:txBody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Website FireSense UI 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0" y="-55359"/>
            <a:ext cx="3115276" cy="1329804"/>
            <a:chOff x="0" y="0"/>
            <a:chExt cx="2722880" cy="116230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-95361" y="5215025"/>
            <a:ext cx="9239361" cy="4977706"/>
          </a:xfrm>
          <a:custGeom>
            <a:avLst/>
            <a:gdLst/>
            <a:ahLst/>
            <a:cxnLst/>
            <a:rect r="r" b="b" t="t" l="l"/>
            <a:pathLst>
              <a:path h="4977706" w="9239361">
                <a:moveTo>
                  <a:pt x="0" y="0"/>
                </a:moveTo>
                <a:lnTo>
                  <a:pt x="9239361" y="0"/>
                </a:lnTo>
                <a:lnTo>
                  <a:pt x="9239361" y="4977706"/>
                </a:lnTo>
                <a:lnTo>
                  <a:pt x="0" y="49777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9368028" y="4077653"/>
            <a:ext cx="250088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Ingests raw FIRMS feeds &amp; VIIRS thermal passes.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Validates AI confidence &amp; temperatures.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Cross-checks OSM, WorldCover &amp; 60-day persistence.</a:t>
            </a:r>
          </a:p>
          <a:p>
            <a:pPr algn="ctr">
              <a:lnSpc>
                <a:spcPts val="1620"/>
              </a:lnSpc>
            </a:pPr>
          </a:p>
        </p:txBody>
      </p:sp>
      <p:sp>
        <p:nvSpPr>
          <p:cNvPr name="TextBox 115" id="115"/>
          <p:cNvSpPr txBox="true"/>
          <p:nvPr/>
        </p:nvSpPr>
        <p:spPr>
          <a:xfrm rot="0">
            <a:off x="12246488" y="4251960"/>
            <a:ext cx="2500884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awareness across all incident zones.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Lifecycle state machine + one-click dispatch.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Quick actions: alerts, road blocks, notifications.</a:t>
            </a:r>
          </a:p>
          <a:p>
            <a:pPr algn="ctr">
              <a:lnSpc>
                <a:spcPts val="1620"/>
              </a:lnSpc>
            </a:pPr>
          </a:p>
        </p:txBody>
      </p:sp>
      <p:sp>
        <p:nvSpPr>
          <p:cNvPr name="TextBox 116" id="116"/>
          <p:cNvSpPr txBox="true"/>
          <p:nvPr/>
        </p:nvSpPr>
        <p:spPr>
          <a:xfrm rot="0">
            <a:off x="15172944" y="4160520"/>
            <a:ext cx="250088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Live proximity alerts &amp; severity for residents.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Safe evacuation routes avoiding fire corridors.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Crowdsourced smoke/fire reports with GPS + SOS.</a:t>
            </a:r>
          </a:p>
          <a:p>
            <a:pPr algn="ctr">
              <a:lnSpc>
                <a:spcPts val="16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  <p:txBody>
            <a:bodyPr/>
            <a:p/>
          </p:txBody>
        </p:sp>
      </p:grpSp>
      <p:sp>
        <p:nvSpPr>
          <p:cNvPr name="AutoShape 7" id="7"/>
          <p:cNvSpPr/>
          <p:nvPr/>
        </p:nvSpPr>
        <p:spPr>
          <a:xfrm>
            <a:off x="156510" y="1850187"/>
            <a:ext cx="17479517" cy="18915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8" id="8"/>
          <p:cNvGrpSpPr/>
          <p:nvPr/>
        </p:nvGrpSpPr>
        <p:grpSpPr>
          <a:xfrm rot="0">
            <a:off x="166040" y="2106532"/>
            <a:ext cx="12076727" cy="548640"/>
            <a:chOff x="0" y="0"/>
            <a:chExt cx="16102302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02302" cy="731520"/>
            </a:xfrm>
            <a:custGeom>
              <a:avLst/>
              <a:gdLst/>
              <a:ahLst/>
              <a:cxnLst/>
              <a:rect r="r" b="b" t="t" l="l"/>
              <a:pathLst>
                <a:path h="731520" w="16102302">
                  <a:moveTo>
                    <a:pt x="0" y="146304"/>
                  </a:moveTo>
                  <a:cubicBezTo>
                    <a:pt x="0" y="65532"/>
                    <a:pt x="45433" y="0"/>
                    <a:pt x="101432" y="0"/>
                  </a:cubicBezTo>
                  <a:lnTo>
                    <a:pt x="16000870" y="0"/>
                  </a:lnTo>
                  <a:cubicBezTo>
                    <a:pt x="16056870" y="0"/>
                    <a:pt x="16102302" y="65532"/>
                    <a:pt x="16102302" y="146304"/>
                  </a:cubicBezTo>
                  <a:lnTo>
                    <a:pt x="16102302" y="585216"/>
                  </a:lnTo>
                  <a:cubicBezTo>
                    <a:pt x="16102302" y="665988"/>
                    <a:pt x="16056870" y="731520"/>
                    <a:pt x="16000870" y="731520"/>
                  </a:cubicBezTo>
                  <a:lnTo>
                    <a:pt x="101432" y="731520"/>
                  </a:lnTo>
                  <a:cubicBezTo>
                    <a:pt x="45433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6040" y="2106532"/>
            <a:ext cx="7746469" cy="548640"/>
            <a:chOff x="0" y="0"/>
            <a:chExt cx="10328626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28626" cy="731520"/>
            </a:xfrm>
            <a:custGeom>
              <a:avLst/>
              <a:gdLst/>
              <a:ahLst/>
              <a:cxnLst/>
              <a:rect r="r" b="b" t="t" l="l"/>
              <a:pathLst>
                <a:path h="731520" w="10328626">
                  <a:moveTo>
                    <a:pt x="0" y="0"/>
                  </a:moveTo>
                  <a:lnTo>
                    <a:pt x="10328626" y="0"/>
                  </a:lnTo>
                  <a:lnTo>
                    <a:pt x="103286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-124867" b="-568649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32862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Scoring &amp; Confidence-Gated Alert Pipeline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22" y="7008363"/>
            <a:ext cx="6733114" cy="685800"/>
            <a:chOff x="0" y="0"/>
            <a:chExt cx="8977485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77486" cy="914400"/>
            </a:xfrm>
            <a:custGeom>
              <a:avLst/>
              <a:gdLst/>
              <a:ahLst/>
              <a:cxnLst/>
              <a:rect r="r" b="b" t="t" l="l"/>
              <a:pathLst>
                <a:path h="914400" w="8977486">
                  <a:moveTo>
                    <a:pt x="0" y="146304"/>
                  </a:moveTo>
                  <a:cubicBezTo>
                    <a:pt x="0" y="65532"/>
                    <a:pt x="51886" y="0"/>
                    <a:pt x="115839" y="0"/>
                  </a:cubicBezTo>
                  <a:lnTo>
                    <a:pt x="8861647" y="0"/>
                  </a:lnTo>
                  <a:cubicBezTo>
                    <a:pt x="8925599" y="0"/>
                    <a:pt x="8977486" y="65532"/>
                    <a:pt x="8977486" y="146304"/>
                  </a:cubicBezTo>
                  <a:lnTo>
                    <a:pt x="8977486" y="768096"/>
                  </a:lnTo>
                  <a:cubicBezTo>
                    <a:pt x="8977486" y="848868"/>
                    <a:pt x="8925599" y="914400"/>
                    <a:pt x="8861647" y="914400"/>
                  </a:cubicBezTo>
                  <a:lnTo>
                    <a:pt x="115839" y="914400"/>
                  </a:lnTo>
                  <a:cubicBezTo>
                    <a:pt x="51886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FF6B35"/>
            </a:solid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015" y="7008363"/>
            <a:ext cx="6610522" cy="685800"/>
            <a:chOff x="0" y="0"/>
            <a:chExt cx="8814029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14029" cy="914400"/>
            </a:xfrm>
            <a:custGeom>
              <a:avLst/>
              <a:gdLst/>
              <a:ahLst/>
              <a:cxnLst/>
              <a:rect r="r" b="b" t="t" l="l"/>
              <a:pathLst>
                <a:path h="914400" w="8814029">
                  <a:moveTo>
                    <a:pt x="0" y="0"/>
                  </a:moveTo>
                  <a:lnTo>
                    <a:pt x="8814029" y="0"/>
                  </a:lnTo>
                  <a:lnTo>
                    <a:pt x="881402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28642" b="-191614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814029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 Gate: &gt;85% → Direct Fire-Brigade Alert · &lt;85% → Drone Verification First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44536" y="7008363"/>
            <a:ext cx="5406909" cy="685800"/>
            <a:chOff x="0" y="0"/>
            <a:chExt cx="7209212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09213" cy="914400"/>
            </a:xfrm>
            <a:custGeom>
              <a:avLst/>
              <a:gdLst/>
              <a:ahLst/>
              <a:cxnLst/>
              <a:rect r="r" b="b" t="t" l="l"/>
              <a:pathLst>
                <a:path h="914400" w="7209213">
                  <a:moveTo>
                    <a:pt x="0" y="146304"/>
                  </a:moveTo>
                  <a:cubicBezTo>
                    <a:pt x="0" y="65532"/>
                    <a:pt x="41666" y="0"/>
                    <a:pt x="93022" y="0"/>
                  </a:cubicBezTo>
                  <a:lnTo>
                    <a:pt x="7116190" y="0"/>
                  </a:lnTo>
                  <a:cubicBezTo>
                    <a:pt x="7167546" y="0"/>
                    <a:pt x="7209213" y="65532"/>
                    <a:pt x="7209213" y="146304"/>
                  </a:cubicBezTo>
                  <a:lnTo>
                    <a:pt x="7209213" y="768096"/>
                  </a:lnTo>
                  <a:cubicBezTo>
                    <a:pt x="7209213" y="848868"/>
                    <a:pt x="7167546" y="914400"/>
                    <a:pt x="7116190" y="914400"/>
                  </a:cubicBezTo>
                  <a:lnTo>
                    <a:pt x="93022" y="914400"/>
                  </a:lnTo>
                  <a:cubicBezTo>
                    <a:pt x="41666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44536" y="7008363"/>
            <a:ext cx="5406909" cy="685800"/>
            <a:chOff x="0" y="0"/>
            <a:chExt cx="7209212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09212" cy="914400"/>
            </a:xfrm>
            <a:custGeom>
              <a:avLst/>
              <a:gdLst/>
              <a:ahLst/>
              <a:cxnLst/>
              <a:rect r="r" b="b" t="t" l="l"/>
              <a:pathLst>
                <a:path h="914400" w="7209212">
                  <a:moveTo>
                    <a:pt x="0" y="0"/>
                  </a:moveTo>
                  <a:lnTo>
                    <a:pt x="7209212" y="0"/>
                  </a:lnTo>
                  <a:lnTo>
                    <a:pt x="72092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57278" b="-191614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2092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Persistence Check: Fire Frequency vs 60-Day Baseline (Anomaly Flag)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7770363"/>
            <a:ext cx="10524651" cy="331485"/>
            <a:chOff x="0" y="0"/>
            <a:chExt cx="232257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7770363"/>
            <a:ext cx="10644568" cy="392142"/>
            <a:chOff x="0" y="0"/>
            <a:chExt cx="19856883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856884" cy="731520"/>
            </a:xfrm>
            <a:custGeom>
              <a:avLst/>
              <a:gdLst/>
              <a:ahLst/>
              <a:cxnLst/>
              <a:rect r="r" b="b" t="t" l="l"/>
              <a:pathLst>
                <a:path h="731520" w="19856884">
                  <a:moveTo>
                    <a:pt x="0" y="0"/>
                  </a:moveTo>
                  <a:lnTo>
                    <a:pt x="19856884" y="0"/>
                  </a:lnTo>
                  <a:lnTo>
                    <a:pt x="198568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-16965" b="-568649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985688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0420" y="8243359"/>
            <a:ext cx="10364230" cy="1969100"/>
          </a:xfrm>
          <a:custGeom>
            <a:avLst/>
            <a:gdLst/>
            <a:ahLst/>
            <a:cxnLst/>
            <a:rect r="r" b="b" t="t" l="l"/>
            <a:pathLst>
              <a:path h="1969100" w="10364230">
                <a:moveTo>
                  <a:pt x="0" y="0"/>
                </a:moveTo>
                <a:lnTo>
                  <a:pt x="10364231" y="0"/>
                </a:lnTo>
                <a:lnTo>
                  <a:pt x="10364231" y="1969099"/>
                </a:lnTo>
                <a:lnTo>
                  <a:pt x="0" y="1969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7" r="0" b="-25765"/>
            </a:stretch>
          </a:blipFill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-27144" y="2874247"/>
            <a:ext cx="2436908" cy="2383931"/>
            <a:chOff x="0" y="0"/>
            <a:chExt cx="4206240" cy="411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7618" y="3637105"/>
            <a:ext cx="2267384" cy="423810"/>
            <a:chOff x="0" y="0"/>
            <a:chExt cx="3913632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Satellite Detect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57578" y="5520758"/>
            <a:ext cx="148334" cy="211905"/>
            <a:chOff x="0" y="0"/>
            <a:chExt cx="256032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68833" y="4462055"/>
            <a:ext cx="2436908" cy="2383931"/>
            <a:chOff x="0" y="0"/>
            <a:chExt cx="4206240" cy="411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3373931" y="4602628"/>
            <a:ext cx="508572" cy="508572"/>
            <a:chOff x="0" y="0"/>
            <a:chExt cx="877824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3373931" y="4602628"/>
            <a:ext cx="508572" cy="508572"/>
            <a:chOff x="0" y="0"/>
            <a:chExt cx="877824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C3A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494525" y="5206558"/>
            <a:ext cx="2267384" cy="423810"/>
            <a:chOff x="0" y="0"/>
            <a:chExt cx="3913632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 + Score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761909" y="3880064"/>
            <a:ext cx="148334" cy="211905"/>
            <a:chOff x="0" y="0"/>
            <a:chExt cx="256032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20838" y="2794051"/>
            <a:ext cx="2436908" cy="2383931"/>
            <a:chOff x="0" y="0"/>
            <a:chExt cx="4206240" cy="4114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6B35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5895481" y="2858213"/>
            <a:ext cx="508572" cy="508572"/>
            <a:chOff x="0" y="0"/>
            <a:chExt cx="877824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5895481" y="2858213"/>
            <a:ext cx="508572" cy="508572"/>
            <a:chOff x="0" y="0"/>
            <a:chExt cx="877824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005600" y="3556909"/>
            <a:ext cx="2267384" cy="423810"/>
            <a:chOff x="0" y="0"/>
            <a:chExt cx="3913632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Verify Confidence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220850" y="5669343"/>
            <a:ext cx="148334" cy="211905"/>
            <a:chOff x="0" y="0"/>
            <a:chExt cx="256032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88233" y="4548231"/>
            <a:ext cx="2436908" cy="2383931"/>
            <a:chOff x="0" y="0"/>
            <a:chExt cx="4206240" cy="4114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B627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8445618" y="4727879"/>
            <a:ext cx="508572" cy="508572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8445618" y="4727879"/>
            <a:ext cx="508572" cy="508572"/>
            <a:chOff x="0" y="0"/>
            <a:chExt cx="877824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472995" y="5365486"/>
            <a:ext cx="2267384" cy="423810"/>
            <a:chOff x="0" y="0"/>
            <a:chExt cx="3913632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&amp; Spread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61097" y="3980719"/>
            <a:ext cx="144762" cy="206802"/>
            <a:chOff x="0" y="0"/>
            <a:chExt cx="256032" cy="365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05859" y="2930880"/>
            <a:ext cx="2436908" cy="2383931"/>
            <a:chOff x="0" y="0"/>
            <a:chExt cx="4206240" cy="4114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977764" y="2941475"/>
            <a:ext cx="508572" cy="508572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77764" y="2941475"/>
            <a:ext cx="508572" cy="508572"/>
            <a:chOff x="0" y="0"/>
            <a:chExt cx="877824" cy="8778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90621" y="3676548"/>
            <a:ext cx="2267384" cy="1688939"/>
            <a:chOff x="0" y="0"/>
            <a:chExt cx="3913632" cy="291520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13632" cy="2915204"/>
            </a:xfrm>
            <a:custGeom>
              <a:avLst/>
              <a:gdLst/>
              <a:ahLst/>
              <a:cxnLst/>
              <a:rect r="r" b="b" t="t" l="l"/>
              <a:pathLst>
                <a:path h="2915204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2915204"/>
                  </a:lnTo>
                  <a:lnTo>
                    <a:pt x="0" y="2915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1" r="0" b="61294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913632" cy="2953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Routes intel to Command (NDRF) &amp; Citizen (evacuation)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90907" y="615609"/>
            <a:ext cx="3115276" cy="1329804"/>
            <a:chOff x="0" y="0"/>
            <a:chExt cx="2722880" cy="116230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1676836" y="2718525"/>
            <a:ext cx="6589068" cy="7493933"/>
          </a:xfrm>
          <a:custGeom>
            <a:avLst/>
            <a:gdLst/>
            <a:ahLst/>
            <a:cxnLst/>
            <a:rect r="r" b="b" t="t" l="l"/>
            <a:pathLst>
              <a:path h="7493933" w="6589068">
                <a:moveTo>
                  <a:pt x="0" y="0"/>
                </a:moveTo>
                <a:lnTo>
                  <a:pt x="6589068" y="0"/>
                </a:lnTo>
                <a:lnTo>
                  <a:pt x="6589068" y="7493933"/>
                </a:lnTo>
                <a:lnTo>
                  <a:pt x="0" y="7493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420" b="0"/>
            </a:stretch>
          </a:blipFill>
        </p:spPr>
        <p:txBody>
          <a:bodyPr/>
          <a:p/>
        </p:txBody>
      </p:sp>
      <p:sp>
        <p:nvSpPr>
          <p:cNvPr name="TextBox 93" id="93"/>
          <p:cNvSpPr txBox="true"/>
          <p:nvPr/>
        </p:nvSpPr>
        <p:spPr>
          <a:xfrm rot="0">
            <a:off x="57618" y="4073651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NASA FIRMS hotspot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(lat/lon, heat, timestamp)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494525" y="5643103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7-class AI label + evidence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% — Danger 0-100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016075" y="3898688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OSM + ESA WorldCover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+ 60-day multi-pass persistence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472995" y="5802032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Wind-based danger zone +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villages/roads at risk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2242766" y="2106532"/>
            <a:ext cx="6023137" cy="548640"/>
            <a:chOff x="0" y="0"/>
            <a:chExt cx="803085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030850" cy="731520"/>
            </a:xfrm>
            <a:custGeom>
              <a:avLst/>
              <a:gdLst/>
              <a:ahLst/>
              <a:cxnLst/>
              <a:rect r="r" b="b" t="t" l="l"/>
              <a:pathLst>
                <a:path h="731520" w="8030850">
                  <a:moveTo>
                    <a:pt x="0" y="146304"/>
                  </a:moveTo>
                  <a:cubicBezTo>
                    <a:pt x="0" y="65532"/>
                    <a:pt x="47176" y="0"/>
                    <a:pt x="105323" y="0"/>
                  </a:cubicBezTo>
                  <a:lnTo>
                    <a:pt x="7925527" y="0"/>
                  </a:lnTo>
                  <a:cubicBezTo>
                    <a:pt x="7983674" y="0"/>
                    <a:pt x="8030850" y="65532"/>
                    <a:pt x="8030850" y="146304"/>
                  </a:cubicBezTo>
                  <a:lnTo>
                    <a:pt x="8030850" y="585216"/>
                  </a:lnTo>
                  <a:cubicBezTo>
                    <a:pt x="8030850" y="665988"/>
                    <a:pt x="7983674" y="731520"/>
                    <a:pt x="7925527" y="731520"/>
                  </a:cubicBezTo>
                  <a:lnTo>
                    <a:pt x="105323" y="731520"/>
                  </a:lnTo>
                  <a:cubicBezTo>
                    <a:pt x="4717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242766" y="2106532"/>
            <a:ext cx="6023137" cy="548640"/>
            <a:chOff x="0" y="0"/>
            <a:chExt cx="803085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030850" cy="731520"/>
            </a:xfrm>
            <a:custGeom>
              <a:avLst/>
              <a:gdLst/>
              <a:ahLst/>
              <a:cxnLst/>
              <a:rect r="r" b="b" t="t" l="l"/>
              <a:pathLst>
                <a:path h="731520" w="8030850">
                  <a:moveTo>
                    <a:pt x="0" y="0"/>
                  </a:moveTo>
                  <a:lnTo>
                    <a:pt x="8030850" y="0"/>
                  </a:lnTo>
                  <a:lnTo>
                    <a:pt x="803085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-38910" b="-247146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803085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 &amp; Data Flow Diagram (DFD)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112067" y="2815984"/>
            <a:ext cx="8604273" cy="1356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20799" y="1942898"/>
            <a:ext cx="4219803" cy="393323"/>
            <a:chOff x="0" y="0"/>
            <a:chExt cx="7848185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7041" y="1865644"/>
            <a:ext cx="4219803" cy="547833"/>
            <a:chOff x="0" y="0"/>
            <a:chExt cx="7848185" cy="10188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48185" cy="1018884"/>
            </a:xfrm>
            <a:custGeom>
              <a:avLst/>
              <a:gdLst/>
              <a:ahLst/>
              <a:cxnLst/>
              <a:rect r="r" b="b" t="t" l="l"/>
              <a:pathLst>
                <a:path h="1018884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1018884"/>
                  </a:lnTo>
                  <a:lnTo>
                    <a:pt x="0" y="1018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688" r="-45638" b="-1544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848185" cy="1066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0799" y="6302476"/>
            <a:ext cx="4219803" cy="393323"/>
            <a:chOff x="0" y="0"/>
            <a:chExt cx="7848185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7041" y="6315117"/>
            <a:ext cx="4219803" cy="393323"/>
            <a:chOff x="0" y="0"/>
            <a:chExt cx="7848185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&amp; RISKS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Decision Tree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6922" y="535839"/>
            <a:ext cx="3115276" cy="1329804"/>
            <a:chOff x="0" y="0"/>
            <a:chExt cx="2722880" cy="11623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8571577" y="2720621"/>
            <a:ext cx="9373066" cy="7557034"/>
          </a:xfrm>
          <a:custGeom>
            <a:avLst/>
            <a:gdLst/>
            <a:ahLst/>
            <a:cxnLst/>
            <a:rect r="r" b="b" t="t" l="l"/>
            <a:pathLst>
              <a:path h="7557034" w="9373066">
                <a:moveTo>
                  <a:pt x="0" y="0"/>
                </a:moveTo>
                <a:lnTo>
                  <a:pt x="9373066" y="0"/>
                </a:lnTo>
                <a:lnTo>
                  <a:pt x="9373066" y="7557034"/>
                </a:lnTo>
                <a:lnTo>
                  <a:pt x="0" y="7557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54558" y="2298121"/>
            <a:ext cx="4152287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Runs entirely on free satellite (FIRMS) and open-map (OSM) data — no proprietary sensor network needed.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Confidence-gated alerting and lightweight web dashboards mean no extra field hardware to deploy on day one.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Live prototype deployed end-to-end: detection → alert → dispatch → resolution.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09395" y="2445617"/>
            <a:ext cx="4152287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Role-based architecture (NTRO Intelligence / Government Command / Citizen Services) ensures clear, targeted action without cognitive overload.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to any FIRMS-covered region; onboarding a new agency is a jurisdiction/role config, not a rebuild.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Downloadable PDF reports &amp; GeoJSON exports slot into agency record-keeping.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316" y="6893026"/>
            <a:ext cx="415228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Distinguishing a real wildfire from a routine licensed industrial flare (e.g. Jamnagar refinery) at a glance.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Field connectivity in remote forest/rural zones can delay live status sync from responders.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Coordinating multiple agencies (fire station + forest range + CAQM + NTRO) on one incident.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31693" y="6857735"/>
            <a:ext cx="415228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gate + drone-first verification below 85% filters out flares/false alarms before dispatch.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60-day fire-frequency baseline flags "very unusual activity" so genuine anomalies stand out automatically.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+ secondary responder fields keep multi-agency coordination explicit.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0"/>
                  </a:moveTo>
                  <a:lnTo>
                    <a:pt x="23225761" y="0"/>
                  </a:lnTo>
                  <a:lnTo>
                    <a:pt x="23225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0" b="-5686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25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Satellite Pixel to Fire Engine on the Road — Tracked End-to-End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0060" y="2343150"/>
            <a:ext cx="1700784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958" indent="-228479" lvl="1">
              <a:lnSpc>
                <a:spcPts val="3029"/>
              </a:lnSpc>
              <a:buFont typeface="Arial"/>
              <a:buChar char="•"/>
            </a:pPr>
            <a:r>
              <a:rPr lang="en-US" sz="2524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Every incident carries a danger score, confidence rating, nearest responder + ETA, and a live lifecycle status — not a raw coordinate.</a:t>
            </a:r>
          </a:p>
          <a:p>
            <a:pPr algn="l" marL="456958" indent="-228479" lvl="1">
              <a:lnSpc>
                <a:spcPts val="3029"/>
              </a:lnSpc>
              <a:buFont typeface="Arial"/>
              <a:buChar char="•"/>
            </a:pPr>
            <a:r>
              <a:rPr lang="en-US" sz="2524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 Malkangiri wildfire — 91% confidence triggers Government Command to deploy NDRF teams and activates safe evacuation routes on the Citizen Services portal.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1480" y="4937760"/>
            <a:ext cx="5577840" cy="3771900"/>
            <a:chOff x="0" y="0"/>
            <a:chExt cx="7437120" cy="502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58368" y="5095875"/>
            <a:ext cx="5084064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2" indent="-230741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Faster, targeted wildfire response protects villages directly in the danger zone.</a:t>
            </a:r>
          </a:p>
          <a:p>
            <a:pPr algn="l" marL="461482" indent="-230741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 Services portal provides live evacuation routes, nearest shelters, and SOS features for affected communities.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32220" y="4937760"/>
            <a:ext cx="5577840" cy="3771900"/>
            <a:chOff x="0" y="0"/>
            <a:chExt cx="7437120" cy="502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57910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gating avoids costly false dispatches to routine industrial flares.</a:t>
            </a:r>
          </a:p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Zero-cost satellite/OSM data keeps operating cost near zero for agencies.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52960" y="4937760"/>
            <a:ext cx="5577840" cy="3771900"/>
            <a:chOff x="0" y="0"/>
            <a:chExt cx="7437120" cy="502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49984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Early wildfire containment (e.g. Similipal) limits forest and wildlife loss.</a:t>
            </a:r>
          </a:p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Crop-burning alerts feed CAQM action, supporting regional air-quality control.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77340" y="5494786"/>
            <a:ext cx="2886075" cy="2886075"/>
            <a:chOff x="0" y="0"/>
            <a:chExt cx="3848100" cy="384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481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21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78127" y="5143500"/>
            <a:ext cx="2486025" cy="2819400"/>
            <a:chOff x="0" y="0"/>
            <a:chExt cx="3314700" cy="375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147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3759200"/>
                  </a:lnTo>
                  <a:lnTo>
                    <a:pt x="0" y="37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943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098486" y="5143500"/>
            <a:ext cx="3219450" cy="2971800"/>
            <a:chOff x="0" y="0"/>
            <a:chExt cx="4292600" cy="3962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26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4292600">
                  <a:moveTo>
                    <a:pt x="0" y="0"/>
                  </a:moveTo>
                  <a:lnTo>
                    <a:pt x="4292600" y="0"/>
                  </a:lnTo>
                  <a:lnTo>
                    <a:pt x="4292600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21999"/>
              </a:blip>
              <a:stretch>
                <a:fillRect l="0" t="0" r="0" b="-833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8368" y="205740"/>
            <a:ext cx="3115276" cy="1329804"/>
            <a:chOff x="0" y="0"/>
            <a:chExt cx="2722880" cy="11623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585216"/>
                  </a:lnTo>
                  <a:cubicBezTo>
                    <a:pt x="13898880" y="665988"/>
                    <a:pt x="13833348" y="731520"/>
                    <a:pt x="137525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47120" y="1714500"/>
            <a:ext cx="6583680" cy="3154680"/>
            <a:chOff x="0" y="0"/>
            <a:chExt cx="8778240" cy="4206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8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4059936"/>
                  </a:lnTo>
                  <a:cubicBezTo>
                    <a:pt x="8778240" y="4140708"/>
                    <a:pt x="8712708" y="4206240"/>
                    <a:pt x="863193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521440" y="1988820"/>
            <a:ext cx="6035040" cy="548640"/>
            <a:chOff x="0" y="0"/>
            <a:chExt cx="80467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PROTOTYPE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21440" y="2674620"/>
            <a:ext cx="6035040" cy="822960"/>
            <a:chOff x="0" y="0"/>
            <a:chExt cx="80467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0467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b="1" sz="1500">
                  <a:solidFill>
                    <a:srgbClr val="38BDF8"/>
                  </a:solidFill>
                  <a:latin typeface="Segoe UI"/>
                </a:rPr>
                <a:t>sih-thermal-intel.vercel.app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1440" y="3566160"/>
            <a:ext cx="6035040" cy="1097280"/>
            <a:chOff x="0" y="0"/>
            <a:chExt cx="80467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46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046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NTRO Intelligence, Government Command &amp; Citizen Services views with 4 working demo scenarios.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37595" y="5133975"/>
            <a:ext cx="6602730" cy="2213610"/>
            <a:chOff x="0" y="0"/>
            <a:chExt cx="8803640" cy="2951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036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8803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656066" y="0"/>
                  </a:lnTo>
                  <a:cubicBezTo>
                    <a:pt x="8737600" y="0"/>
                    <a:pt x="8803640" y="66040"/>
                    <a:pt x="8803640" y="147574"/>
                  </a:cubicBezTo>
                  <a:lnTo>
                    <a:pt x="8803640" y="2803906"/>
                  </a:lnTo>
                  <a:cubicBezTo>
                    <a:pt x="8803640" y="2885440"/>
                    <a:pt x="8737600" y="2951480"/>
                    <a:pt x="865606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1440" y="5417820"/>
            <a:ext cx="6035040" cy="548640"/>
            <a:chOff x="0" y="0"/>
            <a:chExt cx="80467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 OOPS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21440" y="5966460"/>
            <a:ext cx="6035040" cy="1234440"/>
            <a:chOff x="0" y="0"/>
            <a:chExt cx="804672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0467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  <a:spcAft>
                  <a:spcPts val="200"/>
                </a:spcAft>
              </a:pPr>
              <a:r>
                <a:rPr b="1" sz="1100">
                  <a:solidFill>
                    <a:srgbClr val="1E293B"/>
                  </a:solidFill>
                  <a:latin typeface="Segoe UI"/>
                </a:rPr>
                <a:t>Problem Statement ID:</a:t>
              </a:r>
              <a:r>
                <a:rPr sz="1100">
                  <a:solidFill>
                    <a:srgbClr val="475569"/>
                  </a:solidFill>
                  <a:latin typeface="Segoe UI"/>
                </a:rPr>
                <a:t> SIH26162</a:t>
              </a:r>
            </a:p>
            <a:p>
              <a:pPr>
                <a:spcAft>
                  <a:spcPts val="200"/>
                </a:spcAft>
              </a:pPr>
              <a:r>
                <a:rPr b="1" sz="1100">
                  <a:solidFill>
                    <a:srgbClr val="1E293B"/>
                  </a:solidFill>
                  <a:latin typeface="Segoe UI"/>
                </a:rPr>
                <a:t>Agency Partner:</a:t>
              </a:r>
              <a:r>
                <a:rPr sz="1100">
                  <a:solidFill>
                    <a:srgbClr val="475569"/>
                  </a:solidFill>
                  <a:latin typeface="Segoe UI"/>
                </a:rPr>
                <a:t> NTRO</a:t>
              </a:r>
            </a:p>
            <a:p>
              <a:pPr>
                <a:spcAft>
                  <a:spcPts val="200"/>
                </a:spcAft>
              </a:pPr>
              <a:r>
                <a:rPr b="1" sz="1100">
                  <a:solidFill>
                    <a:srgbClr val="1E293B"/>
                  </a:solidFill>
                  <a:latin typeface="Segoe UI"/>
                </a:rPr>
                <a:t>Demo Walkthrough:</a:t>
              </a:r>
              <a:r>
                <a:rPr sz="1100">
                  <a:solidFill>
                    <a:srgbClr val="475569"/>
                  </a:solidFill>
                  <a:latin typeface="Segoe UI"/>
                </a:rPr>
                <a:t> youtu.be/PLZEVJ_CP2S9I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01375" y="2626995"/>
            <a:ext cx="10044112" cy="620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6" tooltip="https://firms.modaps.eosdis.nasa.gov"/>
              </a:rPr>
              <a:t>1. NASA FIRMS (Primary Data Source)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7" tooltip="https://firms.modaps.eosdis.nasa.gov"/>
              </a:rPr>
              <a:t>NASA FIRMS Official Site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8" tooltip="https://firms.modaps.eosdis.nasa.gov"/>
              </a:rPr>
              <a:t>https://firms.modaps.eosdis.nasa.gov/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1" tooltip="https://firms.modaps.eosdis.nasa.gov"/>
              </a:rPr>
              <a:t>Active Fire Data Attributes (MODIS &amp; VIIRS)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2" tooltip="https://firms.modaps.eosdis.nasa.gov"/>
              </a:rPr>
              <a:t>https://www.earthdata.nasa.gov/data/tools/firms/active-fire-data-attributes-modis-viirs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3" tooltip="https://firms.modaps.eosdis.nasa.gov"/>
              </a:rPr>
              <a:t>2. OpenStreetMap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5" tooltip="https://firms.modaps.eosdis.nasa.gov"/>
              </a:rPr>
              <a:t>https://dev.overpass-api.de/overpass-doc/en/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6" tooltip="https://firms.modaps.eosdis.nasa.gov"/>
              </a:rPr>
              <a:t>3. Weather / Wind Data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7" tooltip="https://firms.modaps.eosdis.nasa.gov"/>
              </a:rPr>
              <a:t>Open-Meteo Weather API (Free)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8" tooltip="https://firms.modaps.eosdis.nasa.gov"/>
              </a:rPr>
              <a:t>https://open-meteo.com/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9" tooltip="https://firms.modaps.eosdis.nasa.gov"/>
              </a:rPr>
              <a:t>4. Mapping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0" tooltip="https://firms.modaps.eosdis.nasa.gov"/>
              </a:rPr>
              <a:t>Leaflet.js Official Documentation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1" tooltip="https://firms.modaps.eosdis.nasa.gov"/>
              </a:rPr>
              <a:t>https://leafletjs.com/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2" tooltip="https://firms.modaps.eosdis.nasa.gov"/>
              </a:rPr>
              <a:t>5. Supporting Context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3" tooltip="https://firms.modaps.eosdis.nasa.gov"/>
              </a:rPr>
              <a:t>NASA LANCE (Land, Atmosphere Near real-time Capability for EO)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4" tooltip="https://firms.modaps.eosdis.nasa.gov"/>
              </a:rPr>
              <a:t>https://www.earthdata.nasa.gov/data/tools/firms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2" tooltip="https://firms.modaps.eosdis.nasa.gov"/>
              </a:rPr>
              <a:t>6. ESA WorldCover (Land-Cover Context)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3" tooltip="https://firms.modaps.eosdis.nasa.gov"/>
              </a:rPr>
              <a:t>ESA WorldCover 2021 Product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4" tooltip="https://firms.modaps.eosdis.nasa.gov"/>
              </a:rPr>
              <a:t>https://esa-worldcover.org/en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01375" y="96660"/>
            <a:ext cx="3115276" cy="1329804"/>
            <a:chOff x="0" y="0"/>
            <a:chExt cx="2722880" cy="11623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DAHUP5XetBc</dc:identifier>
  <dcterms:modified xsi:type="dcterms:W3CDTF">2011-08-01T06:04:30Z</dcterms:modified>
  <cp:revision>1</cp:revision>
  <dc:title>AeroThermal_SIH26162_v2.pptx</dc:title>
</cp:coreProperties>
</file>